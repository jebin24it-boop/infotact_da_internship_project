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180</c:v>
                </c:pt>
                <c:pt idx="1">
                  <c:v>200</c:v>
                </c:pt>
                <c:pt idx="2">
                  <c:v>230</c:v>
                </c:pt>
                <c:pt idx="3">
                  <c:v>260</c:v>
                </c:pt>
                <c:pt idx="4">
                  <c:v>290</c:v>
                </c:pt>
                <c:pt idx="5">
                  <c:v>310</c:v>
                </c:pt>
                <c:pt idx="6">
                  <c:v>340</c:v>
                </c:pt>
                <c:pt idx="7">
                  <c:v>370</c:v>
                </c:pt>
                <c:pt idx="8">
                  <c:v>400</c:v>
                </c:pt>
                <c:pt idx="9">
                  <c:v>430</c:v>
                </c:pt>
                <c:pt idx="10">
                  <c:v>480</c:v>
                </c:pt>
                <c:pt idx="11">
                  <c:v>460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Cust 14911</c:v>
                  </c:pt>
                  <c:pt idx="1">
                    <c:v>Cust 18039</c:v>
                  </c:pt>
                  <c:pt idx="2">
                    <c:v>Cust 17450</c:v>
                  </c:pt>
                  <c:pt idx="3">
                    <c:v>Cust 12346</c:v>
                  </c:pt>
                  <c:pt idx="4">
                    <c:v>Cust 15797</c:v>
                  </c:pt>
                  <c:pt idx="5">
                    <c:v>Cust 14527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95</c:v>
                </c:pt>
                <c:pt idx="2">
                  <c:v>82</c:v>
                </c:pt>
                <c:pt idx="3">
                  <c:v>70</c:v>
                </c:pt>
                <c:pt idx="4">
                  <c:v>65</c:v>
                </c:pt>
                <c:pt idx="5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United Kingdom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EIRE</c:v>
                  </c:pt>
                  <c:pt idx="4">
                    <c:v>Spain</c:v>
                  </c:pt>
                  <c:pt idx="5">
                    <c:v>Netherlands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3700</c:v>
                </c:pt>
                <c:pt idx="1">
                  <c:v>220</c:v>
                </c:pt>
                <c:pt idx="2">
                  <c:v>180</c:v>
                </c:pt>
                <c:pt idx="3">
                  <c:v>120</c:v>
                </c:pt>
                <c:pt idx="4">
                  <c:v>90</c:v>
                </c:pt>
                <c:pt idx="5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Product J</c:v>
                  </c:pt>
                  <c:pt idx="1">
                    <c:v>Product I</c:v>
                  </c:pt>
                  <c:pt idx="2">
                    <c:v>Product H</c:v>
                  </c:pt>
                  <c:pt idx="3">
                    <c:v>Product G</c:v>
                  </c:pt>
                  <c:pt idx="4">
                    <c:v>Product F</c:v>
                  </c:pt>
                  <c:pt idx="5">
                    <c:v>Product E</c:v>
                  </c:pt>
                  <c:pt idx="6">
                    <c:v>Product D</c:v>
                  </c:pt>
                  <c:pt idx="7">
                    <c:v>Product C</c:v>
                  </c:pt>
                  <c:pt idx="8">
                    <c:v>Product B</c:v>
                  </c:pt>
                  <c:pt idx="9">
                    <c:v>Product 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10</c:v>
                </c:pt>
                <c:pt idx="2">
                  <c:v>11</c:v>
                </c:pt>
                <c:pt idx="3">
                  <c:v>12</c:v>
                </c:pt>
                <c:pt idx="4">
                  <c:v>14</c:v>
                </c:pt>
                <c:pt idx="5">
                  <c:v>16</c:v>
                </c:pt>
                <c:pt idx="6">
                  <c:v>18</c:v>
                </c:pt>
                <c:pt idx="7">
                  <c:v>28</c:v>
                </c:pt>
                <c:pt idx="8">
                  <c:v>32</c:v>
                </c:pt>
                <c:pt idx="9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(£K)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Sunday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310</c:v>
                </c:pt>
                <c:pt idx="1">
                  <c:v>330</c:v>
                </c:pt>
                <c:pt idx="2">
                  <c:v>340</c:v>
                </c:pt>
                <c:pt idx="3">
                  <c:v>380</c:v>
                </c:pt>
                <c:pt idx="4">
                  <c:v>320</c:v>
                </c:pt>
                <c:pt idx="5">
                  <c:v>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8AM</c:v>
                  </c:pt>
                  <c:pt idx="1">
                    <c:v>9AM</c:v>
                  </c:pt>
                  <c:pt idx="2">
                    <c:v>10AM</c:v>
                  </c:pt>
                  <c:pt idx="3">
                    <c:v>11AM</c:v>
                  </c:pt>
                  <c:pt idx="4">
                    <c:v>12PM</c:v>
                  </c:pt>
                  <c:pt idx="5">
                    <c:v>1PM</c:v>
                  </c:pt>
                  <c:pt idx="6">
                    <c:v>2PM</c:v>
                  </c:pt>
                  <c:pt idx="7">
                    <c:v>3PM</c:v>
                  </c:pt>
                  <c:pt idx="8">
                    <c:v>4PM</c:v>
                  </c:pt>
                  <c:pt idx="9">
                    <c:v>5PM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</c:v>
                </c:pt>
                <c:pt idx="1">
                  <c:v>80</c:v>
                </c:pt>
                <c:pt idx="2">
                  <c:v>150</c:v>
                </c:pt>
                <c:pt idx="3">
                  <c:v>220</c:v>
                </c:pt>
                <c:pt idx="4">
                  <c:v>280</c:v>
                </c:pt>
                <c:pt idx="5">
                  <c:v>260</c:v>
                </c:pt>
                <c:pt idx="6">
                  <c:v>200</c:v>
                </c:pt>
                <c:pt idx="7">
                  <c:v>170</c:v>
                </c:pt>
                <c:pt idx="8">
                  <c:v>130</c:v>
                </c:pt>
                <c:pt idx="9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United Kingdom</c:v>
                </c:pt>
                <c:pt idx="1">
                  <c:v>Germany</c:v>
                </c:pt>
                <c:pt idx="2">
                  <c:v>France</c:v>
                </c:pt>
                <c:pt idx="3">
                  <c:v>EIRE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74</c:v>
                </c:pt>
                <c:pt idx="1">
                  <c:v>5</c:v>
                </c:pt>
                <c:pt idx="2">
                  <c:v>4</c:v>
                </c:pt>
                <c:pt idx="3">
                  <c:v>3</c:v>
                </c:pt>
                <c:pt idx="4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 Report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Dashboard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2286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on sales performance, customer behavior,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performance, and geographic revenue distribution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Python &amp;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upward trend throughout the year with Month 11 recording the highest revenue.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645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dominates with ~£3.7M revenue, creating both strength and risk.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83464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Focus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3383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high-value customers drives a significant portion of total revenue.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83464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029200" y="3383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significantly outperform the rest; revenue spread across multiple winners.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Performance Insights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1005840"/>
            <a:ext cx="29260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18872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0" y="1051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64008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11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852160" y="2103120"/>
            <a:ext cx="29260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8600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Post-Peak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400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M12 Decline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5852160" y="3200400"/>
            <a:ext cx="2926080" cy="100584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5852160" y="3200400"/>
            <a:ext cx="54864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0"/>
          <p:cNvSpPr/>
          <p:nvPr/>
        </p:nvSpPr>
        <p:spPr>
          <a:xfrm>
            <a:off x="603504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driven by increased transaction volume, not price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Insights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394960" y="10972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394960" y="109728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4"/>
          <p:cNvSpPr/>
          <p:nvPr/>
        </p:nvSpPr>
        <p:spPr>
          <a:xfrm>
            <a:off x="5577840" y="1188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customers contributes a significant portion of total revenue.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394960" y="20116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394960" y="201168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7"/>
          <p:cNvSpPr/>
          <p:nvPr/>
        </p:nvSpPr>
        <p:spPr>
          <a:xfrm>
            <a:off x="557784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14911 generated the highest revenue among all customers.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394960" y="29260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292608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0"/>
          <p:cNvSpPr/>
          <p:nvPr/>
        </p:nvSpPr>
        <p:spPr>
          <a:xfrm>
            <a:off x="557784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among high-value customers.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394960" y="3840480"/>
            <a:ext cx="3383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3840480"/>
            <a:ext cx="54864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557784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loyalty programs can strengthen retention.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Country-wise Revenue Insights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005840"/>
            <a:ext cx="3017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1005840"/>
            <a:ext cx="54864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£3.7M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94360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Revenue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4360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market contributing the vast majority of total revenue.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760720" y="256032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60720" y="2560320"/>
            <a:ext cx="54864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43600" y="3017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reliance on the UK market creates geographic concentration risk. Expanding into other markets could improve revenue diversification.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 Insights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09728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109728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~£35K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943600" y="1508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revenue-generating product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760720" y="219456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760720" y="219456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~£32K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943600" y="2606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943600" y="2834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competition among top products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760720" y="329184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0" y="3291840"/>
            <a:ext cx="54864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94360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Gap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943600" y="3931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significantly outperform the rest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Weekday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005840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1005840"/>
            <a:ext cx="54864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1097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Day: Thursday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9436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among all weekdays, indicating strong mid-to-late week purchasing activity.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760720" y="2377440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60720" y="2377440"/>
            <a:ext cx="54864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Lowest: Sunday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0" y="2834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data is absent from the dataset. Sunday recorded the lowest revenue.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No Saturday transaction records were present in the dataset.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 Shopping Hours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760720" y="1005840"/>
            <a:ext cx="3017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9164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3640" y="1645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activity peaks during midday hours (11AM - 1PM).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600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63640" y="22402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increases steadily before reaching peak periods.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880360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63640" y="2834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behavior is predictable and follows a clear pattern.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47472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6364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promotions and staffing during peak hours to maximize revenue.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Share Analysis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120640" y="109728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120640" y="1097280"/>
            <a:ext cx="54864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530352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 the United Kingdom, confirming a highly concentrated geographic revenue structure.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120640" y="26517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120640" y="2651760"/>
            <a:ext cx="54864" cy="1280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sales efforts in underperforming regions could improve long-term business stability and reduce geographic risk.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Marketing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campaigns during peak shopping hours to maximize engagement and conversions.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12801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8620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2900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loyalty programs for high-value customers to increase long-term revenue.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6"/>
          <p:cNvSpPr/>
          <p:nvPr/>
        </p:nvSpPr>
        <p:spPr>
          <a:xfrm>
            <a:off x="6263640" y="128016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2084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Promotion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top-performing products through targeted advertising and product bundles.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292608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2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594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515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Markets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436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UK dependence by expanding operations in other countries.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9184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Shape 28"/>
          <p:cNvSpPr/>
          <p:nvPr/>
        </p:nvSpPr>
        <p:spPr>
          <a:xfrm>
            <a:off x="3429000" y="31089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9"/>
          <p:cNvSpPr/>
          <p:nvPr/>
        </p:nvSpPr>
        <p:spPr>
          <a:xfrm>
            <a:off x="34290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8862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42900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lower Sunday sales and introduce promotional strategies to improve performance.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126480" y="29260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26480" y="292608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Shape 34"/>
          <p:cNvSpPr/>
          <p:nvPr/>
        </p:nvSpPr>
        <p:spPr>
          <a:xfrm>
            <a:off x="6263640" y="310896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8" name="Text 35"/>
          <p:cNvSpPr/>
          <p:nvPr/>
        </p:nvSpPr>
        <p:spPr>
          <a:xfrm>
            <a:off x="6263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7208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Campaigns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263640" y="3611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campaigns around the period leading up to Month 11, the highest revenue month.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45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 growth throughout the year with Month 11 as the peak period.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94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is the primary revenue-generating market at ~£3.7M.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743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customers and products contribute significantly to revenue.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3291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supports informed decisions in marketing, retention, inventory, and expansion.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31520" y="3931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Analytics Dashboard demonstrates how data-driven insights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smarter business decisions across all key areas.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Insights Report</dc:title>
  <dc:subject>PptxGenJS Presentation</dc:subject>
  <dc:creator>Retail Analytics Team</dc:creator>
  <cp:lastModifiedBy>Retail Analytics Team</cp:lastModifiedBy>
  <cp:revision>1</cp:revision>
  <dcterms:created xsi:type="dcterms:W3CDTF">2026-06-20T06:09:16Z</dcterms:created>
  <dcterms:modified xsi:type="dcterms:W3CDTF">2026-06-20T06:09:16Z</dcterms:modified>
</cp:coreProperties>
</file>